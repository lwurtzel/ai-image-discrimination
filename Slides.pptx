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1sW8NHr8S48dsUAOC4sTRjk5L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project in one line: can a CNN distinguish real from AI images, and does it generalize to generators it never trained on? That last part is where it gets interesting.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stakes: fakes are convincing, new generators keep appearing, so generalization to unseen generators is the whole game.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from-scratch CNN hits 95% on CIFAKE. It looks like a solved problem — which sets up the twist on the next slide.</a:t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reveal: 95% in-distribution drops to ~46% average on unseen generators — at or below chance. It memorized one generator's fingerprint, not a general notion of 'AI-generated.'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Act 2 before the graph: GenImage is a much bigger, higher-resolution dataset spanning 8 generators. I trained a ResNet50V2 on three of them and tested on all eight — including five it never saw. Headline: 79% average accuracy, up from 46% for the CIFAKE model. The next slide breaks that down generator by generator.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payoff figure. Every green bar (new model) beats its red bar (old model). Stars mark the three generators it trained on — near-ceiling there. The real story is the unstarred greens: still well above the red model and above chance, though they dip on ADM, VQDM, Midjourney, which it never saw. Improved generalization, not solved.</a:t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failure is systematic, not random. It's a cautious model: almost never false-alarms on reals (96% right), but misses ~39% of fakes — and the misses concentrate on generators it never trained on, which it waves through as 'real.'</a:t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Because misses default to 'real,' we can move the threshold to trade real-accuracy for fake-catching. 0.80 is a defensible operating point. But honesty: this only picks which errors we make; the deep fix is still generalization.</a:t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Grad-CAM shows the model looks at the subject itself, not the background — reading artifacts in how the object was rendered. A nice contrast with the low-res CIFAKE literature, which found background cues.</a:t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demo: open the site or have the class scan the QR, play a quick round, and compare to the model. Keep it to a minute or two.</a:t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takeaways: brittleness, systematic failure toward 'real,' and generalization as the real frontier.</a:t>
            </a:r>
            <a:endParaRPr/>
          </a:p>
        </p:txBody>
      </p:sp>
      <p:sp>
        <p:nvSpPr>
          <p:cNvPr id="174" name="Google Shape;1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Framed as the professor's 'money and a year off' prompt: close the generalization gap with more and newer generators, stress-test robustness against real-world image manipulations, and calibrate and ship it as a usable tool.</a:t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and invite questions — you have 2 minutes of Q&amp;A.</a:t>
            </a:r>
            <a:endParaRPr/>
          </a:p>
        </p:txBody>
      </p:sp>
      <p:sp>
        <p:nvSpPr>
          <p:cNvPr id="216" name="Google Shape;2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1325880"/>
            <a:ext cx="10543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AI CLASS  ·  CAPSTONE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783080"/>
            <a:ext cx="112745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Discerning the Synthetic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97280" y="3154680"/>
            <a:ext cx="99943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Can a neural network tell real photos from AI-generated images 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even from generators it has never seen?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66060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766060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42716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442716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9372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119372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96028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796028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72684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472684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149340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149340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825996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825996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502652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502652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179308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179308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855964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855964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57200" y="5577840"/>
            <a:ext cx="11274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A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FA0AE"/>
                </a:solidFill>
                <a:latin typeface="Calibri"/>
                <a:ea typeface="Calibri"/>
                <a:cs typeface="Calibri"/>
                <a:sym typeface="Calibri"/>
              </a:rPr>
              <a:t>Real vs. AI-generated — the classification game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457200" y="6053328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Liev Wurtzel   ·   July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Telling real from AI is getting harder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" y="2057400"/>
            <a:ext cx="64922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Modern generators — Stable Diffusion, Midjourney, DALL·E — make images most people can't flag by eye.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New generators appear constantly. A detector is only useful if it works on ones it was never trained on.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So: does a CNN trained to catch one generator's fakes generalize to the rest?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772400" y="2194560"/>
            <a:ext cx="3657600" cy="1371600"/>
          </a:xfrm>
          <a:prstGeom prst="roundRect">
            <a:avLst>
              <a:gd fmla="val 6667" name="adj"/>
            </a:avLst>
          </a:prstGeom>
          <a:solidFill>
            <a:srgbClr val="F4F7F9"/>
          </a:solidFill>
          <a:ln cap="flat" cmpd="sng" w="2540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772400" y="2395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REAL PHOTO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772400" y="29077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captured by a camera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772400" y="3749040"/>
            <a:ext cx="3657600" cy="1371600"/>
          </a:xfrm>
          <a:prstGeom prst="roundRect">
            <a:avLst>
              <a:gd fmla="val 6667" name="adj"/>
            </a:avLst>
          </a:prstGeom>
          <a:solidFill>
            <a:srgbClr val="F4F7F9"/>
          </a:solidFill>
          <a:ln cap="flat" cmpd="sng" w="25400">
            <a:solidFill>
              <a:srgbClr val="C1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772400" y="39502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544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C1544F"/>
                </a:solidFill>
                <a:latin typeface="Calibri"/>
                <a:ea typeface="Calibri"/>
                <a:cs typeface="Calibri"/>
                <a:sym typeface="Calibri"/>
              </a:rPr>
              <a:t>AI-GENERATED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772400" y="446227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diffusion / GAN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772400" y="5285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the model must decide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1 · A DETECTOR THAT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Train on one generator, and it nails it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" y="2148840"/>
            <a:ext cx="6035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Dataset — CIFAKE: 60k real (CIFAR-10) + 60k fakes from Stable Diffusion 1.4, at 32×32.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Model — a convolutional neural network, trained from scratch.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Held-out test accuracy: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507492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2100"/>
              <a:buFont typeface="Cambria"/>
              <a:buNone/>
            </a:pPr>
            <a:r>
              <a:rPr b="1" i="1" lang="en-US" sz="2100" u="none" cap="none" strike="noStrike">
                <a:solidFill>
                  <a:srgbClr val="0E9384"/>
                </a:solidFill>
                <a:latin typeface="Cambria"/>
                <a:ea typeface="Cambria"/>
                <a:cs typeface="Cambria"/>
                <a:sym typeface="Cambria"/>
              </a:rPr>
              <a:t>Looks solved — right?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949440" y="196596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5000"/>
              <a:buFont typeface="Cambria"/>
              <a:buNone/>
            </a:pPr>
            <a:r>
              <a:rPr b="1" i="0" lang="en-US" sz="15000" u="none" cap="none" strike="noStrike">
                <a:solidFill>
                  <a:srgbClr val="0E9384"/>
                </a:solidFill>
                <a:latin typeface="Cambria"/>
                <a:ea typeface="Cambria"/>
                <a:cs typeface="Cambria"/>
                <a:sym typeface="Cambria"/>
              </a:rPr>
              <a:t>95%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949440" y="416052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accuracy on held-out CIFAKE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949440" y="468172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Stable Diffusion 1.4  ·  a single generator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1 · THE TWIST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…until it meets a different generator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collapse8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783080"/>
            <a:ext cx="7315200" cy="360273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79" name="Google Shape;79;p4"/>
          <p:cNvSpPr/>
          <p:nvPr/>
        </p:nvSpPr>
        <p:spPr>
          <a:xfrm>
            <a:off x="548640" y="546811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The CIFAKE-trained detector, tested on each GenImage generator it never saw.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092440" y="2011680"/>
            <a:ext cx="3566160" cy="3063240"/>
          </a:xfrm>
          <a:prstGeom prst="roundRect">
            <a:avLst>
              <a:gd fmla="val 2985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183880" y="2212848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A7F37"/>
                </a:solidFill>
                <a:latin typeface="Cambria"/>
                <a:ea typeface="Cambria"/>
                <a:cs typeface="Cambria"/>
                <a:sym typeface="Cambria"/>
              </a:rPr>
              <a:t>95% </a:t>
            </a:r>
            <a:r>
              <a:rPr b="0" i="0" lang="en-US" sz="2600" u="none" cap="none" strike="noStrike">
                <a:solidFill>
                  <a:srgbClr val="7A8699"/>
                </a:solidFill>
                <a:latin typeface="Cambria"/>
                <a:ea typeface="Cambria"/>
                <a:cs typeface="Cambria"/>
                <a:sym typeface="Cambria"/>
              </a:rPr>
              <a:t> → </a:t>
            </a:r>
            <a:r>
              <a:rPr b="1" i="0" lang="en-US" sz="3400" u="none" cap="none" strike="noStrike">
                <a:solidFill>
                  <a:srgbClr val="C1544F"/>
                </a:solidFill>
                <a:latin typeface="Cambria"/>
                <a:ea typeface="Cambria"/>
                <a:cs typeface="Cambria"/>
                <a:sym typeface="Cambria"/>
              </a:rPr>
              <a:t> 47%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275320" y="30632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On all 8 unseen generators, accuracy falls to chance (~50%) or below.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275320" y="41148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It learned SD-1.4's fingerprint — not “AI-ness.”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2 · A STRONGER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Scaling up: train across many generators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58368" y="2203704"/>
            <a:ext cx="182880" cy="1828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960120" y="21031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60120" y="2459736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GenImage — 8 generators + real photos, at full 224px (not 32×32).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58368" y="3346704"/>
            <a:ext cx="182880" cy="182880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60120" y="32461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TRAINED 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60120" y="3602736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ResNet50V2 transfer learning · 3 generators: SD 1.4, glide, BigGAN (★).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58368" y="4489704"/>
            <a:ext cx="182880" cy="182880"/>
          </a:xfrm>
          <a:prstGeom prst="ellipse">
            <a:avLst/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60120" y="43891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44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1544F"/>
                </a:solidFill>
                <a:latin typeface="Calibri"/>
                <a:ea typeface="Calibri"/>
                <a:cs typeface="Calibri"/>
                <a:sym typeface="Calibri"/>
              </a:rPr>
              <a:t>TESTED 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60120" y="4745736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All 8 generators' held-out sets — including 5 it never trained 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452360" y="2148840"/>
            <a:ext cx="4069080" cy="3154680"/>
          </a:xfrm>
          <a:prstGeom prst="roundRect">
            <a:avLst>
              <a:gd fmla="val 3478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452360" y="2423160"/>
            <a:ext cx="4069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0E9384"/>
                </a:solidFill>
                <a:latin typeface="Cambria"/>
                <a:ea typeface="Cambria"/>
                <a:cs typeface="Cambria"/>
                <a:sym typeface="Cambria"/>
              </a:rPr>
              <a:t>79%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726680" y="384048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average accuracy across all 8 generators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726680" y="45720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up from 47% for the single-generator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58368" y="5669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Next: how it does generator by generator →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2 · TRAIN ACROSS GENERATORS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More generators → better generalization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44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1544F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single-generator model        </a:t>
            </a:r>
            <a:r>
              <a:rPr b="0" i="0" lang="en-US" sz="145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multi-generator model        </a:t>
            </a:r>
            <a:r>
              <a:rPr b="0" i="0" lang="en-US" sz="14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trained on this generator        </a:t>
            </a:r>
            <a:r>
              <a:rPr b="1" i="0" lang="en-US" sz="14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- - -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50% chance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4181" l="0" r="0" t="16328"/>
          <a:stretch/>
        </p:blipFill>
        <p:spPr>
          <a:xfrm>
            <a:off x="731525" y="2407750"/>
            <a:ext cx="10607050" cy="362275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3 · HOW IT FAILS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It doesn't guess — it defaults to “real”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50"/>
              <a:buFont typeface="Calibri"/>
              <a:buNone/>
            </a:pPr>
            <a:r>
              <a:rPr b="1" i="0" lang="en-US" sz="17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Cautious model: 96% correct on real photos, but it catches only ~61% of fakes.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simple_confusion_matrix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48840"/>
            <a:ext cx="4572000" cy="29718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26" name="Google Shape;126;p7"/>
          <p:cNvSpPr/>
          <p:nvPr/>
        </p:nvSpPr>
        <p:spPr>
          <a:xfrm>
            <a:off x="777240" y="52120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All 100k validation images: actual vs. predicted.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source_breakdown.png"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1874520"/>
            <a:ext cx="3840480" cy="412394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28" name="Google Shape;128;p7"/>
          <p:cNvSpPr/>
          <p:nvPr/>
        </p:nvSpPr>
        <p:spPr>
          <a:xfrm>
            <a:off x="5897880" y="605332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Per generator — unseen fakes (ADM, VQDM, Midjourney) are called “real” ~70% of the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THE LEVER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One knob: the decision threshold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threshold_tradeoff.jpg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5760720" cy="416052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38" name="Google Shape;138;p8"/>
          <p:cNvSpPr/>
          <p:nvPr/>
        </p:nvSpPr>
        <p:spPr>
          <a:xfrm>
            <a:off x="6720840" y="182880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The tradeoff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720840" y="2395728"/>
            <a:ext cx="4892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Because missed fakes get labeled “real,” raising the bar for “real” catches more of them — at a cost to real-photo accuracy.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720840" y="3657600"/>
            <a:ext cx="4892040" cy="685800"/>
          </a:xfrm>
          <a:prstGeom prst="roundRect">
            <a:avLst>
              <a:gd fmla="val 10667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903720" y="36576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threshold 0.50   </a:t>
            </a:r>
            <a:r>
              <a:rPr b="0" i="0" lang="en-US" sz="14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64% fakes · 96% reals · </a:t>
            </a: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80% overall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720840" y="4453128"/>
            <a:ext cx="4892040" cy="685800"/>
          </a:xfrm>
          <a:prstGeom prst="roundRect">
            <a:avLst>
              <a:gd fmla="val 10667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903720" y="4453128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threshold 0.80   </a:t>
            </a:r>
            <a:r>
              <a:rPr b="0" i="0" lang="en-US" sz="14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77% fakes · 88% reals · </a:t>
            </a: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82% overall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720840" y="5349240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550"/>
              <a:buFont typeface="Calibri"/>
              <a:buNone/>
            </a:pPr>
            <a:r>
              <a:rPr b="1" i="1" lang="en-US" sz="15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Tuning picks which errors you make — it doesn't fix generalization.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INTERPRETABILITY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What is the model looking at?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50"/>
              <a:buFont typeface="Calibri"/>
              <a:buNone/>
            </a:pPr>
            <a:r>
              <a:rPr b="1" i="0" lang="en-US" sz="17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Grad-CAM highlights the pixels that drove each prediction (red = most influential).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gradcam.png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103120"/>
            <a:ext cx="11155680" cy="384962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55" name="Google Shape;155;p9"/>
          <p:cNvSpPr/>
          <p:nvPr/>
        </p:nvSpPr>
        <p:spPr>
          <a:xfrm>
            <a:off x="548640" y="6035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It attends to the rendered subject, not the background — reading generation artifacts in the object itself. (First panel is a missed fake: confidently called real.)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Human vs. Model — let's play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975104" y="2560320"/>
            <a:ext cx="2651760" cy="2651760"/>
          </a:xfrm>
          <a:prstGeom prst="roundRect">
            <a:avLst>
              <a:gd fmla="val 482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quirky-eloquent-babbage/mnt/outputs/deck_assets/qr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12" y="2852928"/>
            <a:ext cx="2066544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1975104" y="5394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SCAN TO PLAY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212080" y="278892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Play it in your browser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212080" y="3639312"/>
            <a:ext cx="5120640" cy="777240"/>
          </a:xfrm>
          <a:prstGeom prst="roundRect">
            <a:avLst>
              <a:gd fmla="val 11765" name="adj"/>
            </a:avLst>
          </a:prstGeom>
          <a:solidFill>
            <a:srgbClr val="1E3157"/>
          </a:solidFill>
          <a:ln cap="flat" cmpd="sng" w="19050">
            <a:solidFill>
              <a:srgbClr val="34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5212080" y="363931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github.com/LWurtzel/Discerning-the-Synthetic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21208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Same ten images — can you beat the model?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 learned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600200" y="192024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Detectors are brittle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600200" y="2395728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A model trained on one generator collapses to chance on generators it never saw.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822960" y="3246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600200" y="32004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failure is systematic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600200" y="3675888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Training across generators helps — and the mistakes aren't random: unseen fakes get called “real.”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600200" y="44805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Generalization is the real challenge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600200" y="4956048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Thresholds trade off which errors you make; they don't teach the model new fingerprints.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Code, models &amp; figures:   github.com/LWurtzel/Discerning-the-Synthetic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goes next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1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The no-limits version — more data, more generators, a real tool: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22960" y="2377440"/>
            <a:ext cx="530352" cy="530352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822960" y="237744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554480" y="234086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Close the gap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554480" y="2798064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Fine-tune on more generators and add newer ones — SDXL, DALL·E 3, Flux — so unseen-generator accuracy climbs.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22960" y="3566160"/>
            <a:ext cx="530352" cy="530352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822960" y="356616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554480" y="352958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Stress-test robustness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554480" y="3986784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Does compression, resizing, or a small adversarial tweak break the detector? The real world is messy.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822960" y="4754880"/>
            <a:ext cx="530352" cy="530352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822960" y="47548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554480" y="471830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Calibrate &amp; ship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554480" y="5175504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Better-calibrated confidence, then package it as a browser extension people could actually use.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457200" y="2194560"/>
            <a:ext cx="112745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57200" y="333756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2766060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2766060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3442716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3442716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119372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119372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796028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4796028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472684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5472684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149340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6149340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825996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6825996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7502652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7502652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8179308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8179308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8855964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8855964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A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8FA0AE"/>
                </a:solidFill>
                <a:latin typeface="Calibri"/>
                <a:ea typeface="Calibri"/>
                <a:cs typeface="Calibri"/>
                <a:sym typeface="Calibri"/>
              </a:rPr>
              <a:t>github.com/LWurtzel/Discerning-the-Synthetic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2026-07-16T20:10:11Z</dcterms:created>
  <dc:creator>Liev Wurtzel</dc:creator>
</cp:coreProperties>
</file>