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in one line: can a CNN distinguish real from AI images, and does it generalize to generators it never trained on? That last part is where it gets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stakes: fakes are convincing, new generators keep appearing, so generalization to unseen generators is the whole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from-scratch CNN hits 95% on CIFAKE. It looks like a solved problem — which sets up the twist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reveal: 95% in-distribution drops to ~46% average on unseen generators — at or below chance. It memorized one generator's fingerprint, not a general notion of 'AI-generated.'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Act 2 before the graph: GenImage is a much bigger, higher-resolution dataset spanning 8 generators. I trained a ResNet50V2 on three of them and tested on all eight — including five it never saw. Headline: 79% average accuracy, up from 46% for the CIFAKE model. The next slide breaks that down generator by generator.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figure. Every green bar (new model) beats its red bar (old model). Stars mark the three generators it trained on — near-ceiling there. The real story is the unstarred greens: still well above the red model and above chance, though they dip on ADM, VQDM, Midjourney, which it never saw. Improved generalization, not solved.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failure is systematic, not random. It's a cautious model: almost never false-alarms on reals (96% right), but misses ~39% of fakes — and the misses concentrate on generators it never trained on, which it waves through as 'real.'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misses default to 'real,' we can move the threshold to trade real-accuracy for fake-catching. 0.80 is a defensible operating point. But honesty: this only picks which errors we make; the deep fix is still generalization.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Grad-CAM shows the model looks at the subject itself, not the background — reading artifacts in how the object was rendered. A nice contrast with the low-res CIFAKE literature, which found background cues.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open the site or have the class scan the QR, play a quick round, and compare to the model. Keep it to a minute or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takeaways: brittleness, systematic failure toward 'real,' and generalization as the real frontier.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as the professor's 'money and a year off' prompt: close the generalization gap with more and newer generators, stress-test robustness against real-world image manipulations, and calibrate and ship it as a usable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and invite questions — you have 2 minutes of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  ·  CAPSTONE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78308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Discerning the Synthetic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1097280" y="315468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neural network tell real photos from AI-generated images —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from generators it has never seen?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66060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6" name="Text 4"/>
          <p:cNvSpPr/>
          <p:nvPr/>
        </p:nvSpPr>
        <p:spPr>
          <a:xfrm>
            <a:off x="27660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2716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8" name="Text 6"/>
          <p:cNvSpPr/>
          <p:nvPr/>
        </p:nvSpPr>
        <p:spPr>
          <a:xfrm>
            <a:off x="3442716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9372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10" name="Text 8"/>
          <p:cNvSpPr/>
          <p:nvPr/>
        </p:nvSpPr>
        <p:spPr>
          <a:xfrm>
            <a:off x="4119372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96028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12" name="Text 10"/>
          <p:cNvSpPr/>
          <p:nvPr/>
        </p:nvSpPr>
        <p:spPr>
          <a:xfrm>
            <a:off x="4796028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72684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14" name="Text 12"/>
          <p:cNvSpPr/>
          <p:nvPr/>
        </p:nvSpPr>
        <p:spPr>
          <a:xfrm>
            <a:off x="5472684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49340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16" name="Text 14"/>
          <p:cNvSpPr/>
          <p:nvPr/>
        </p:nvSpPr>
        <p:spPr>
          <a:xfrm>
            <a:off x="614934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25996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18" name="Text 16"/>
          <p:cNvSpPr/>
          <p:nvPr/>
        </p:nvSpPr>
        <p:spPr>
          <a:xfrm>
            <a:off x="6825996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502652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20" name="Text 18"/>
          <p:cNvSpPr/>
          <p:nvPr/>
        </p:nvSpPr>
        <p:spPr>
          <a:xfrm>
            <a:off x="7502652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79308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22" name="Text 20"/>
          <p:cNvSpPr/>
          <p:nvPr/>
        </p:nvSpPr>
        <p:spPr>
          <a:xfrm>
            <a:off x="8179308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855964" y="48463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24" name="Text 22"/>
          <p:cNvSpPr/>
          <p:nvPr/>
        </p:nvSpPr>
        <p:spPr>
          <a:xfrm>
            <a:off x="8855964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5778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F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vs. AI-generated — the classification game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Liev Wurtzel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real from AI is getting harder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6492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generators — Stable Diffusion, Midjourney, DALL·E — make images most people can't flag by eye.</a:t>
            </a:r>
            <a:endParaRPr lang="en-US" sz="1900" dirty="0"/>
          </a:p>
          <a:p>
            <a:pPr algn="l"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generators appear constantly. A detector is only useful if it works on ones it was never trained on.</a:t>
            </a:r>
            <a:endParaRPr lang="en-US" sz="19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9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does a CNN trained to catch one generator's fakes generalize to the rest?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254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23957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0" y="2907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camera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0" y="37490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25400">
            <a:solidFill>
              <a:srgbClr val="C154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3950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1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772400" y="44622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GAN model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0" y="5285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decide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A DETECTOR THAT WORKS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on one generator, and it nails it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CIFAKE: 60k real (CIFAR-10) + 60k fakes from Stable Diffusion 1.4, at 32×32.</a:t>
            </a:r>
            <a:endParaRPr lang="en-US" sz="1900" dirty="0"/>
          </a:p>
          <a:p>
            <a:pPr algn="l" marL="342900" indent="-3429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9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a convolutional neural network, trained from scratch.</a:t>
            </a:r>
            <a:endParaRPr lang="en-US" sz="19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9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accuracy: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5074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0E93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Looks solved — right?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949440" y="19659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0E93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15000" dirty="0"/>
          </a:p>
        </p:txBody>
      </p:sp>
      <p:sp>
        <p:nvSpPr>
          <p:cNvPr id="8" name="Text 6"/>
          <p:cNvSpPr/>
          <p:nvPr/>
        </p:nvSpPr>
        <p:spPr>
          <a:xfrm>
            <a:off x="6949440" y="4160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held-out CIFAKE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49440" y="46817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Diffusion 1.4  ·  a single generator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THE TWIST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…until it meets a different generator</a:t>
            </a:r>
            <a:endParaRPr lang="en-US" sz="3400" dirty="0"/>
          </a:p>
        </p:txBody>
      </p:sp>
      <p:pic>
        <p:nvPicPr>
          <p:cNvPr id="5" name="Image 0" descr="/sessions/quirky-eloquent-babbage/mnt/outputs/deck_assets/collaps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7315200" cy="3602736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54681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CIFAKE-trained detector, tested on each GenImage generator it never saw.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F4F7F9"/>
          </a:solidFill>
          <a:ln/>
        </p:spPr>
      </p:sp>
      <p:sp>
        <p:nvSpPr>
          <p:cNvPr id="8" name="Text 5"/>
          <p:cNvSpPr/>
          <p:nvPr/>
        </p:nvSpPr>
        <p:spPr>
          <a:xfrm>
            <a:off x="8183880" y="221284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7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 </a:t>
            </a:r>
            <a:pPr algn="ctr" indent="0" marL="0">
              <a:buNone/>
            </a:pPr>
            <a:r>
              <a:rPr lang="en-US" sz="2600" dirty="0">
                <a:solidFill>
                  <a:srgbClr val="7A86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</a:t>
            </a:r>
            <a:pPr algn="ctr" indent="0" marL="0">
              <a:buNone/>
            </a:pPr>
            <a:r>
              <a:rPr lang="en-US" sz="3400" b="1" dirty="0">
                <a:solidFill>
                  <a:srgbClr val="C154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47%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75320" y="3063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 8 unseen generators, accuracy falls to chance (~50%) or below.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75320" y="4114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learned SD-1.4's fingerprint — not “AI-ness.”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A STRONGER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up: train across many generators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2203704"/>
            <a:ext cx="182880" cy="182880"/>
          </a:xfrm>
          <a:prstGeom prst="ellipse">
            <a:avLst/>
          </a:prstGeom>
          <a:solidFill>
            <a:srgbClr val="1A7F3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5973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GenImage — 8 generators + real photos, at full 224px (not 32×32).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346704"/>
            <a:ext cx="182880" cy="182880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360273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ResNet50V2 transfer learning · 3 generators: SD 1.4, glide, BigGAN (★).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" y="4489704"/>
            <a:ext cx="182880" cy="182880"/>
          </a:xfrm>
          <a:prstGeom prst="ellipse">
            <a:avLst/>
          </a:prstGeom>
          <a:solidFill>
            <a:srgbClr val="C1544F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389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1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0120" y="474573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generators' held-out sets — including 5 it never trained 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52360" y="2148840"/>
            <a:ext cx="4069080" cy="3154680"/>
          </a:xfrm>
          <a:prstGeom prst="roundRect">
            <a:avLst>
              <a:gd name="adj" fmla="val 3478"/>
            </a:avLst>
          </a:prstGeom>
          <a:solidFill>
            <a:srgbClr val="F4F7F9"/>
          </a:solidFill>
          <a:ln/>
        </p:spPr>
      </p:sp>
      <p:sp>
        <p:nvSpPr>
          <p:cNvPr id="15" name="Text 13"/>
          <p:cNvSpPr/>
          <p:nvPr/>
        </p:nvSpPr>
        <p:spPr>
          <a:xfrm>
            <a:off x="7452360" y="242316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E93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9600" dirty="0"/>
          </a:p>
        </p:txBody>
      </p:sp>
      <p:sp>
        <p:nvSpPr>
          <p:cNvPr id="16" name="Text 14"/>
          <p:cNvSpPr/>
          <p:nvPr/>
        </p:nvSpPr>
        <p:spPr>
          <a:xfrm>
            <a:off x="77266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accuracy across all 8 generators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726680" y="45720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46% for the single-generator model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it does generator by generator →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TRAIN ACROSS GENERATORS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generators → better generalization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C1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algn="l" indent="0" marL="0">
              <a:buNone/>
            </a:pPr>
            <a:r>
              <a:rPr lang="en-US" sz="145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single-generator model        </a:t>
            </a:r>
            <a:pPr algn="l" indent="0" marL="0">
              <a:buNone/>
            </a:pPr>
            <a:r>
              <a:rPr lang="en-US" sz="1450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algn="l" indent="0" marL="0">
              <a:buNone/>
            </a:pPr>
            <a:r>
              <a:rPr lang="en-US" sz="145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multi-generator model        </a:t>
            </a:r>
            <a:pPr algn="l" indent="0" marL="0">
              <a:buNone/>
            </a:pPr>
            <a:r>
              <a:rPr lang="en-US" sz="14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pPr algn="l" indent="0" marL="0">
              <a:buNone/>
            </a:pPr>
            <a:r>
              <a:rPr lang="en-US" sz="145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trained on this generator        </a:t>
            </a:r>
            <a:pPr algn="l" indent="0" marL="0">
              <a:buNone/>
            </a:pPr>
            <a:r>
              <a:rPr lang="en-US" sz="1450" b="1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- -</a:t>
            </a:r>
            <a:pPr algn="l" indent="0" marL="0">
              <a:buNone/>
            </a:pPr>
            <a:r>
              <a:rPr lang="en-US" sz="145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50% chance</a:t>
            </a:r>
            <a:endParaRPr lang="en-US" sz="1450" dirty="0"/>
          </a:p>
        </p:txBody>
      </p:sp>
      <p:pic>
        <p:nvPicPr>
          <p:cNvPr id="6" name="Image 0" descr="/sessions/quirky-eloquent-babbage/mnt/outputs/deck_assets/comparison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57400"/>
            <a:ext cx="10607040" cy="4178808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HOW IT FAILS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doesn't guess — it defaults to “real”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Cautious model: 96% correct on real photos, but it catches only ~61% of fakes.</a:t>
            </a:r>
            <a:endParaRPr lang="en-US" sz="1750" dirty="0"/>
          </a:p>
        </p:txBody>
      </p:sp>
      <p:pic>
        <p:nvPicPr>
          <p:cNvPr id="6" name="Image 0" descr="/sessions/quirky-eloquent-babbage/mnt/outputs/deck_assets/simple_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4572000" cy="297180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777240" y="5212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100k validation images: actual vs. predicted.</a:t>
            </a:r>
            <a:endParaRPr lang="en-US" sz="1300" dirty="0"/>
          </a:p>
        </p:txBody>
      </p:sp>
      <p:pic>
        <p:nvPicPr>
          <p:cNvPr id="8" name="Image 1" descr="/sessions/quirky-eloquent-babbage/mnt/outputs/deck_assets/source_break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74520"/>
            <a:ext cx="3840480" cy="4123944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pic>
      <p:sp>
        <p:nvSpPr>
          <p:cNvPr id="9" name="Text 5"/>
          <p:cNvSpPr/>
          <p:nvPr/>
        </p:nvSpPr>
        <p:spPr>
          <a:xfrm>
            <a:off x="5897880" y="60533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generator — unseen fakes (ADM, VQDM, Midjourney) are called “real” ~70% of the time.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knob: the decision threshold</a:t>
            </a:r>
            <a:endParaRPr lang="en-US" sz="3400" dirty="0"/>
          </a:p>
        </p:txBody>
      </p:sp>
      <p:pic>
        <p:nvPicPr>
          <p:cNvPr id="5" name="Image 0" descr="/sessions/quirky-eloquent-babbage/mnt/outputs/deck_assets/threshold_tradeof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760720" cy="41605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720840" y="18288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tradeoff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720840" y="2395728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missed fakes get labeled “real,” raising the bar for “real” catches more of them — at a cost to real-photo accuracy.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720840" y="3657600"/>
            <a:ext cx="4892040" cy="685800"/>
          </a:xfrm>
          <a:prstGeom prst="roundRect">
            <a:avLst>
              <a:gd name="adj" fmla="val 10667"/>
            </a:avLst>
          </a:prstGeom>
          <a:solidFill>
            <a:srgbClr val="F4F7F9"/>
          </a:solidFill>
          <a:ln/>
        </p:spPr>
      </p:sp>
      <p:sp>
        <p:nvSpPr>
          <p:cNvPr id="9" name="Text 6"/>
          <p:cNvSpPr/>
          <p:nvPr/>
        </p:nvSpPr>
        <p:spPr>
          <a:xfrm>
            <a:off x="6903720" y="3657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0.50   </a:t>
            </a:r>
            <a:pPr algn="l" indent="0" marL="0">
              <a:buNone/>
            </a:pPr>
            <a:r>
              <a:rPr lang="en-US" sz="14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 fakes · 96% reals · </a:t>
            </a:r>
            <a:pPr algn="l" indent="0" marL="0">
              <a:buNone/>
            </a:pPr>
            <a:r>
              <a:rPr lang="en-US" sz="1400" b="1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overall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20840" y="4453128"/>
            <a:ext cx="4892040" cy="685800"/>
          </a:xfrm>
          <a:prstGeom prst="roundRect">
            <a:avLst>
              <a:gd name="adj" fmla="val 10667"/>
            </a:avLst>
          </a:prstGeom>
          <a:solidFill>
            <a:srgbClr val="F4F7F9"/>
          </a:solidFill>
          <a:ln/>
        </p:spPr>
      </p:sp>
      <p:sp>
        <p:nvSpPr>
          <p:cNvPr id="11" name="Text 8"/>
          <p:cNvSpPr/>
          <p:nvPr/>
        </p:nvSpPr>
        <p:spPr>
          <a:xfrm>
            <a:off x="6903720" y="44531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0.80   </a:t>
            </a:r>
            <a:pPr algn="l" indent="0" marL="0">
              <a:buNone/>
            </a:pPr>
            <a:r>
              <a:rPr lang="en-US" sz="1400" dirty="0">
                <a:solidFill>
                  <a:srgbClr val="3F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fakes · 88% reals · </a:t>
            </a:r>
            <a:pPr algn="l" indent="0" marL="0">
              <a:buNone/>
            </a:pPr>
            <a:r>
              <a:rPr lang="en-US" sz="1400" b="1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 overall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20840" y="53492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i="1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picks which errors you make — it doesn't fix generalization.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model looking at?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E93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highlights the pixels that drove each prediction (red = most influential).</a:t>
            </a:r>
            <a:endParaRPr lang="en-US" sz="1750" dirty="0"/>
          </a:p>
        </p:txBody>
      </p:sp>
      <p:pic>
        <p:nvPicPr>
          <p:cNvPr id="6" name="Image 0" descr="/sessions/quirky-eloquent-babbage/mnt/outputs/deck_assets/gradc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03120"/>
            <a:ext cx="11155680" cy="3849624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48640" y="60350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attends to the rendered subject, not the background — reading generation artifacts in the object itself. (First panel is a missed fake: confidently called real.)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vs. Model — let's play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1975104" y="25603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7B4">
                <a:alpha val="30000"/>
              </a:srgbClr>
            </a:outerShdw>
          </a:effectLst>
        </p:spPr>
      </p:sp>
      <p:pic>
        <p:nvPicPr>
          <p:cNvPr id="6" name="Image 0" descr="/sessions/quirky-eloquent-babbage/mnt/outputs/deck_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712" y="2852928"/>
            <a:ext cx="2066544" cy="20665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75104" y="5394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PLAY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212080" y="2788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 it in your browser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5212080" y="3639312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1E3157"/>
          </a:solidFill>
          <a:ln w="19050">
            <a:solidFill>
              <a:srgbClr val="34D3C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212080" y="363931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lwurtzel.github.io/Discerning-the-Synthetic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5212080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twenty images — can you beat the model?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Detectors are brittle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395728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trained on one generator collapses to chance on generators it never saw.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548640" cy="548640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00200" y="3200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failure is systematic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3675888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across generators helps — and the mistakes aren't random: unseen fakes get called “real.”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822960" y="4526280"/>
            <a:ext cx="548640" cy="548640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600200" y="4480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Generalization is the real challenge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00200" y="4956048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trade off which errors you make; they don't teach the model new fingerprints.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48640" y="6126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models &amp; figures:   github.com/LWurtzel/Discerning-the-Synthetic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no-limits version — more data, more generators, a real tool: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530352" cy="530352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774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554480" y="2340864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gap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54480" y="2798064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on more generators and add newer ones — SDXL, DALL·E 3, Flux — so unseen-generator accuracy climbs.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566160"/>
            <a:ext cx="530352" cy="530352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661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1554480" y="3529584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robustness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554480" y="3986784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compression, resizing, or a small adversarial tweak break the detector? The real world is messy.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4754880"/>
            <a:ext cx="530352" cy="530352"/>
          </a:xfrm>
          <a:prstGeom prst="ellipse">
            <a:avLst/>
          </a:prstGeom>
          <a:solidFill>
            <a:srgbClr val="34D3C2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7548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1554480" y="4718304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 &amp; ship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554480" y="5175504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E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Better-calibrated confidence, then package it as a browser extension people could actually use.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112745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57200" y="3337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34D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2766060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5" name="Text 3"/>
          <p:cNvSpPr/>
          <p:nvPr/>
        </p:nvSpPr>
        <p:spPr>
          <a:xfrm>
            <a:off x="276606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442716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7" name="Text 5"/>
          <p:cNvSpPr/>
          <p:nvPr/>
        </p:nvSpPr>
        <p:spPr>
          <a:xfrm>
            <a:off x="3442716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9372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9" name="Text 7"/>
          <p:cNvSpPr/>
          <p:nvPr/>
        </p:nvSpPr>
        <p:spPr>
          <a:xfrm>
            <a:off x="4119372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96028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11" name="Text 9"/>
          <p:cNvSpPr/>
          <p:nvPr/>
        </p:nvSpPr>
        <p:spPr>
          <a:xfrm>
            <a:off x="4796028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72684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13" name="Text 11"/>
          <p:cNvSpPr/>
          <p:nvPr/>
        </p:nvSpPr>
        <p:spPr>
          <a:xfrm>
            <a:off x="5472684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49340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15" name="Text 13"/>
          <p:cNvSpPr/>
          <p:nvPr/>
        </p:nvSpPr>
        <p:spPr>
          <a:xfrm>
            <a:off x="614934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25996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17" name="Text 15"/>
          <p:cNvSpPr/>
          <p:nvPr/>
        </p:nvSpPr>
        <p:spPr>
          <a:xfrm>
            <a:off x="6825996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502652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19" name="Text 17"/>
          <p:cNvSpPr/>
          <p:nvPr/>
        </p:nvSpPr>
        <p:spPr>
          <a:xfrm>
            <a:off x="7502652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79308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C1544F"/>
          </a:solidFill>
          <a:ln/>
        </p:spPr>
      </p:sp>
      <p:sp>
        <p:nvSpPr>
          <p:cNvPr id="21" name="Text 19"/>
          <p:cNvSpPr/>
          <p:nvPr/>
        </p:nvSpPr>
        <p:spPr>
          <a:xfrm>
            <a:off x="8179308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855964" y="4434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A7F37"/>
          </a:solidFill>
          <a:ln/>
        </p:spPr>
      </p:sp>
      <p:sp>
        <p:nvSpPr>
          <p:cNvPr id="23" name="Text 21"/>
          <p:cNvSpPr/>
          <p:nvPr/>
        </p:nvSpPr>
        <p:spPr>
          <a:xfrm>
            <a:off x="8855964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8F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github.com/LWurtzel/Discerning-the-Synthetic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Discerning the Synthetic</dc:title>
  <dc:subject>PptxGenJS Presentation</dc:subject>
  <dc:creator>Liev Wurtzel</dc:creator>
  <cp:lastModifiedBy>Liev Wurtzel</cp:lastModifiedBy>
  <cp:revision>1</cp:revision>
  <dcterms:created xsi:type="dcterms:W3CDTF">2026-07-16T20:10:11Z</dcterms:created>
  <dcterms:modified xsi:type="dcterms:W3CDTF">2026-07-16T20:10:11Z</dcterms:modified>
</cp:coreProperties>
</file>